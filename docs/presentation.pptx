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image" Target="../media/image3.png"/><Relationship Id="rId4" Type="http://schemas.openxmlformats.org/officeDocument/2006/relationships/image" Target="../media/image4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2A78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914400" y="2377440"/>
            <a:ext cx="10332720" cy="1645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4000" b="1">
                <a:solidFill>
                  <a:srgbClr val="FFFFFF"/>
                </a:solidFill>
              </a:defRPr>
            </a:pPr>
            <a:r>
              <a:t>AI/NLP Risk Engine + Strategic Portfolio Stress Test</a:t>
            </a:r>
          </a:p>
          <a:p>
            <a:pPr>
              <a:defRPr sz="1800">
                <a:solidFill>
                  <a:srgbClr val="FFFFFF"/>
                </a:solidFill>
              </a:defRPr>
            </a:pPr>
            <a:r>
              <a:t>Aadit Siroya  |  IIT Guwahati  |  S&amp;P Global &amp; Crisil Campus Hackathon 2026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1124712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800" b="1">
                <a:solidFill>
                  <a:srgbClr val="0B0B0B"/>
                </a:solidFill>
              </a:defRPr>
            </a:pPr>
            <a:r>
              <a:t>Problem &amp; Approach</a:t>
            </a:r>
          </a:p>
        </p:txBody>
      </p:sp>
      <p:sp>
        <p:nvSpPr>
          <p:cNvPr id="3" name="Rectangle 2"/>
          <p:cNvSpPr/>
          <p:nvPr/>
        </p:nvSpPr>
        <p:spPr>
          <a:xfrm>
            <a:off x="457200" y="960120"/>
            <a:ext cx="11247120" cy="31750"/>
          </a:xfrm>
          <a:prstGeom prst="rect">
            <a:avLst/>
          </a:prstGeom>
          <a:solidFill>
            <a:srgbClr val="2A78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188720"/>
            <a:ext cx="11247120" cy="5303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800">
                <a:solidFill>
                  <a:srgbClr val="0B0B0B"/>
                </a:solidFill>
              </a:defRPr>
            </a:pPr>
            <a:r>
              <a:t>• Risk and ratings teams can't manually read every headline fast enough to know what it means for a portfolio.</a:t>
            </a:r>
          </a:p>
          <a:p>
            <a:pPr>
              <a:spcAft>
                <a:spcPts val="800"/>
              </a:spcAft>
              <a:defRPr sz="1800">
                <a:solidFill>
                  <a:srgbClr val="0B0B0B"/>
                </a:solidFill>
              </a:defRPr>
            </a:pPr>
            <a:r>
              <a:t>• Build: ingest news + social text → structured sentiment/event/impact signals → trigger a real portfolio stress test.</a:t>
            </a:r>
          </a:p>
          <a:p>
            <a:pPr>
              <a:spcAft>
                <a:spcPts val="800"/>
              </a:spcAft>
              <a:defRPr sz="1800">
                <a:solidFill>
                  <a:srgbClr val="0B0B0B"/>
                </a:solidFill>
              </a:defRPr>
            </a:pPr>
            <a:r>
              <a:t>• Discipline throughout: verify every external claim live, never report a number a script didn't actually produce.</a:t>
            </a:r>
          </a:p>
          <a:p>
            <a:pPr>
              <a:spcAft>
                <a:spcPts val="800"/>
              </a:spcAft>
              <a:defRPr sz="1800">
                <a:solidFill>
                  <a:srgbClr val="0B0B0B"/>
                </a:solidFill>
              </a:defRPr>
            </a:pPr>
            <a:r>
              <a:t>• Confirmed false on inspection, adapted rather than worked around: X/Twitter has no free read API in 2026; FinBERT is fine-tuned on the exact dataset the brief's own eval plan implied using (leakage); "price target" collides with a naive "Target Corp" name match.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1124712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800" b="1">
                <a:solidFill>
                  <a:srgbClr val="0B0B0B"/>
                </a:solidFill>
              </a:defRPr>
            </a:pPr>
            <a:r>
              <a:t>System Design</a:t>
            </a:r>
          </a:p>
        </p:txBody>
      </p:sp>
      <p:sp>
        <p:nvSpPr>
          <p:cNvPr id="3" name="Rectangle 2"/>
          <p:cNvSpPr/>
          <p:nvPr/>
        </p:nvSpPr>
        <p:spPr>
          <a:xfrm>
            <a:off x="457200" y="960120"/>
            <a:ext cx="11247120" cy="31750"/>
          </a:xfrm>
          <a:prstGeom prst="rect">
            <a:avLst/>
          </a:prstGeom>
          <a:solidFill>
            <a:srgbClr val="2A78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Picture 3" descr="architectur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65760" y="1051560"/>
            <a:ext cx="11430000" cy="7082077"/>
          </a:xfrm>
          <a:prstGeom prst="rect">
            <a:avLst/>
          </a:prstGeom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1124712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800" b="1">
                <a:solidFill>
                  <a:srgbClr val="0B0B0B"/>
                </a:solidFill>
              </a:defRPr>
            </a:pPr>
            <a:r>
              <a:t>Implementation Highlights</a:t>
            </a:r>
          </a:p>
        </p:txBody>
      </p:sp>
      <p:sp>
        <p:nvSpPr>
          <p:cNvPr id="3" name="Rectangle 2"/>
          <p:cNvSpPr/>
          <p:nvPr/>
        </p:nvSpPr>
        <p:spPr>
          <a:xfrm>
            <a:off x="457200" y="960120"/>
            <a:ext cx="11247120" cy="31750"/>
          </a:xfrm>
          <a:prstGeom prst="rect">
            <a:avLst/>
          </a:prstGeom>
          <a:solidFill>
            <a:srgbClr val="2A78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188720"/>
            <a:ext cx="11247120" cy="5303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600">
                <a:solidFill>
                  <a:srgbClr val="0B0B0B"/>
                </a:solidFill>
              </a:defRPr>
            </a:pPr>
            <a:r>
              <a:t>• FinBERT (primary) vs VADER (naive baseline) vs majority-class, scored with bootstrap 95% CIs, not point estimates alone.</a:t>
            </a:r>
          </a:p>
          <a:p>
            <a:pPr>
              <a:spcAft>
                <a:spcPts val="800"/>
              </a:spcAft>
              <a:defRPr sz="1600">
                <a:solidFill>
                  <a:srgbClr val="0B0B0B"/>
                </a:solidFill>
              </a:defRPr>
            </a:pPr>
            <a:r>
              <a:t>• Event classifier frozen at rule-v1 (git tag classifier-v1) before scoring against hand-labelled gold data — no eval-set tuning.</a:t>
            </a:r>
          </a:p>
          <a:p>
            <a:pPr>
              <a:spcAft>
                <a:spcPts val="800"/>
              </a:spcAft>
              <a:defRPr sz="1600">
                <a:solidFill>
                  <a:srgbClr val="0B0B0B"/>
                </a:solidFill>
              </a:defRPr>
            </a:pPr>
            <a:r>
              <a:t>• Polling-based pub/sub (FastAPI + a flat JSONL file), documented honestly as polling, not a real message bus.</a:t>
            </a:r>
          </a:p>
          <a:p>
            <a:pPr>
              <a:spcAft>
                <a:spcPts val="800"/>
              </a:spcAft>
              <a:defRPr sz="1600">
                <a:solidFill>
                  <a:srgbClr val="0B0B0B"/>
                </a:solidFill>
              </a:defRPr>
            </a:pPr>
            <a:r>
              <a:t>• Module B: full cashflow reprice for bonds, swap DV01 via bump-and-reprice, closed-form Black-Scholes for options — compared against the required naive (duration/delta-only) approximation, not just implemented once.</a:t>
            </a:r>
          </a:p>
          <a:p>
            <a:pPr>
              <a:spcAft>
                <a:spcPts val="800"/>
              </a:spcAft>
              <a:defRPr sz="1600">
                <a:solidFill>
                  <a:srgbClr val="0B0B0B"/>
                </a:solidFill>
              </a:defRPr>
            </a:pPr>
            <a:r>
              <a:t>• Mark-to-market P&amp;L and credit loss (ΔEL on loans) kept as two separate numbers by construction — a loan is never both fair-valued AND provisioned, which would double-count the same credit deterioration.</a:t>
            </a:r>
          </a:p>
          <a:p>
            <a:pPr>
              <a:spcAft>
                <a:spcPts val="800"/>
              </a:spcAft>
              <a:defRPr sz="1600">
                <a:solidFill>
                  <a:srgbClr val="0B0B0B"/>
                </a:solidFill>
              </a:defRPr>
            </a:pPr>
            <a:r>
              <a:t>• Demo mode verified byte-identical across two real end-to-end runs (tests/test_demo_idempotency.py).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1124712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800" b="1">
                <a:solidFill>
                  <a:srgbClr val="0B0B0B"/>
                </a:solidFill>
              </a:defRPr>
            </a:pPr>
            <a:r>
              <a:t>Key Results</a:t>
            </a:r>
          </a:p>
        </p:txBody>
      </p:sp>
      <p:sp>
        <p:nvSpPr>
          <p:cNvPr id="3" name="Rectangle 2"/>
          <p:cNvSpPr/>
          <p:nvPr/>
        </p:nvSpPr>
        <p:spPr>
          <a:xfrm>
            <a:off x="457200" y="960120"/>
            <a:ext cx="11247120" cy="31750"/>
          </a:xfrm>
          <a:prstGeom prst="rect">
            <a:avLst/>
          </a:prstGeom>
          <a:solidFill>
            <a:srgbClr val="2A78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Picture 3" descr="sentiment_char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74320" y="1051560"/>
            <a:ext cx="3749039" cy="2249423"/>
          </a:xfrm>
          <a:prstGeom prst="rect">
            <a:avLst/>
          </a:prstGeom>
        </p:spPr>
      </p:pic>
      <p:pic>
        <p:nvPicPr>
          <p:cNvPr id="5" name="Picture 4" descr="stress_test_chart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160520" y="1051560"/>
            <a:ext cx="3749039" cy="2249423"/>
          </a:xfrm>
          <a:prstGeom prst="rect">
            <a:avLst/>
          </a:prstGeom>
        </p:spPr>
      </p:pic>
      <p:pic>
        <p:nvPicPr>
          <p:cNvPr id="6" name="Picture 5" descr="naive_vs_full_chart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046720" y="1051560"/>
            <a:ext cx="3749039" cy="2249423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274320" y="4846320"/>
            <a:ext cx="11521440" cy="1737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300">
                <a:solidFill>
                  <a:srgbClr val="0B0B0B"/>
                </a:solidFill>
              </a:defRPr>
            </a:pPr>
            <a:r>
              <a:t>FinBERT 0.660 macro-F1 [0.635, 0.684] vs VADER 0.453 vs majority-class 0.267 (n=2000, CIs don't overlap — real improvement). Bearish recall 76.5%. 138ms/doc on CPU.  |  76 real signals evaluated, 5 fired a stress test.  |  Naive duration-only error grows to -57,839 at -200bp vs. full reprice — genuine, growing convexity error, confirmed by tests.  ⚠ Market data (curve/equity spot) is PROVISIONAL this run — see docs/USER_TODO.md.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1124712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800" b="1">
                <a:solidFill>
                  <a:srgbClr val="0B0B0B"/>
                </a:solidFill>
              </a:defRPr>
            </a:pPr>
            <a:r>
              <a:t>Domain Impact</a:t>
            </a:r>
          </a:p>
        </p:txBody>
      </p:sp>
      <p:sp>
        <p:nvSpPr>
          <p:cNvPr id="3" name="Rectangle 2"/>
          <p:cNvSpPr/>
          <p:nvPr/>
        </p:nvSpPr>
        <p:spPr>
          <a:xfrm>
            <a:off x="457200" y="960120"/>
            <a:ext cx="11247120" cy="31750"/>
          </a:xfrm>
          <a:prstGeom prst="rect">
            <a:avLst/>
          </a:prstGeom>
          <a:solidFill>
            <a:srgbClr val="2A78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188720"/>
            <a:ext cx="11247120" cy="5303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700">
                <a:solidFill>
                  <a:srgbClr val="0B0B0B"/>
                </a:solidFill>
              </a:defRPr>
            </a:pPr>
            <a:r>
              <a:t>• Translates a news/social firehose into a dollar P&amp;L number a credit/risk desk can act on, with full traceability: signal → scenario → shock → P&amp;L (visible in the dashboard's Audit Log tab).</a:t>
            </a:r>
          </a:p>
          <a:p>
            <a:pPr>
              <a:spcAft>
                <a:spcPts val="800"/>
              </a:spcAft>
              <a:defRPr sz="1700">
                <a:solidFill>
                  <a:srgbClr val="0B0B0B"/>
                </a:solidFill>
              </a:defRPr>
            </a:pPr>
            <a:r>
              <a:t>• Separating MTM P&amp;L from credit loss mirrors how a real risk desk actually reports exposure — a trading-book instrument and a banking-book loan are never collapsed into one undifferentiated number.</a:t>
            </a:r>
          </a:p>
          <a:p>
            <a:pPr>
              <a:spcAft>
                <a:spcPts val="800"/>
              </a:spcAft>
              <a:defRPr sz="1700">
                <a:solidFill>
                  <a:srgbClr val="0B0B0B"/>
                </a:solidFill>
              </a:defRPr>
            </a:pPr>
            <a:r>
              <a:t>• Shock magnitudes anchored to the Federal Reserve's own published severely-adverse scenario (fetched and cited directly, not estimated) — domain-grounded, not arbitrary round numbers.</a:t>
            </a:r>
          </a:p>
          <a:p>
            <a:pPr>
              <a:spcAft>
                <a:spcPts val="800"/>
              </a:spcAft>
              <a:defRPr sz="1700">
                <a:solidFill>
                  <a:srgbClr val="0B0B0B"/>
                </a:solidFill>
              </a:defRPr>
            </a:pPr>
            <a:r>
              <a:t>• Fits S&amp;P Global / Crisil's own domain: credit events, rating-adjacent language, and portfolio-level stress are exactly the surface a ratings/risk-analytics business operates on.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1124712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800" b="1">
                <a:solidFill>
                  <a:srgbClr val="0B0B0B"/>
                </a:solidFill>
              </a:defRPr>
            </a:pPr>
            <a:r>
              <a:t>Limitations &amp; Next Steps</a:t>
            </a:r>
          </a:p>
        </p:txBody>
      </p:sp>
      <p:sp>
        <p:nvSpPr>
          <p:cNvPr id="3" name="Rectangle 2"/>
          <p:cNvSpPr/>
          <p:nvPr/>
        </p:nvSpPr>
        <p:spPr>
          <a:xfrm>
            <a:off x="457200" y="960120"/>
            <a:ext cx="11247120" cy="31750"/>
          </a:xfrm>
          <a:prstGeom prst="rect">
            <a:avLst/>
          </a:prstGeom>
          <a:solidFill>
            <a:srgbClr val="2A78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188720"/>
            <a:ext cx="11247120" cy="5303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500">
                <a:solidFill>
                  <a:srgbClr val="0B0B0B"/>
                </a:solidFill>
              </a:defRPr>
            </a:pPr>
            <a:r>
              <a:t>• Impact Score event-study correlation: pending -- needs a real GDELT sample (this dev sandbox cannot reach GDELT; see `docs/DATA_VERIFICATION.md` section 8). Run `scripts/run_impact_event_study.py` after `scripts/build_cache.py`.</a:t>
            </a:r>
          </a:p>
          <a:p>
            <a:pPr>
              <a:spcAft>
                <a:spcPts val="800"/>
              </a:spcAft>
              <a:defRPr sz="1500">
                <a:solidFill>
                  <a:srgbClr val="0B0B0B"/>
                </a:solidFill>
              </a:defRPr>
            </a:pPr>
            <a:r>
              <a:t>• Event classification accuracy: pending -- needs `data/eval/event_gold.csv` fully hand-labelled, then `scripts/score_event_classifier.py` (scores the frozen `rule-v1`, git tag `classifier-v1`).</a:t>
            </a:r>
          </a:p>
          <a:p>
            <a:pPr>
              <a:spcAft>
                <a:spcPts val="800"/>
              </a:spcAft>
              <a:defRPr sz="1500">
                <a:solidFill>
                  <a:srgbClr val="0B0B0B"/>
                </a:solidFill>
              </a:defRPr>
            </a:pPr>
            <a:r>
              <a:t>• Market data (Treasury curve, equity spot) is PROVISIONAL in this build — fetched via a tool with a summarising model in the loop, not a direct download; a verification script exists to cross-check it.</a:t>
            </a:r>
          </a:p>
          <a:p>
            <a:pPr>
              <a:spcAft>
                <a:spcPts val="800"/>
              </a:spcAft>
              <a:defRPr sz="1500">
                <a:solidFill>
                  <a:srgbClr val="0B0B0B"/>
                </a:solidFill>
              </a:defRPr>
            </a:pPr>
            <a:r>
              <a:t>• English-only; GDELT gives headline-level text only (no article body); the social replay source is historical with synthetic timestamps, creating a real date mismatch against the live market snapshot.</a:t>
            </a:r>
          </a:p>
          <a:p>
            <a:pPr>
              <a:spcAft>
                <a:spcPts val="800"/>
              </a:spcAft>
              <a:defRPr sz="1500">
                <a:solidFill>
                  <a:srgbClr val="0B0B0B"/>
                </a:solidFill>
              </a:defRPr>
            </a:pPr>
            <a:r>
              <a:t>• Credit loss is 1-year EL (Basel-style), not IFRS 9 lifetime ECL — a real stress scenario would typically trigger Stage 2/3 staging, so this is a lower bound, stated as such.</a:t>
            </a:r>
          </a:p>
          <a:p>
            <a:pPr>
              <a:spcAft>
                <a:spcPts val="800"/>
              </a:spcAft>
              <a:defRPr sz="1500">
                <a:solidFill>
                  <a:srgbClr val="0B0B0B"/>
                </a:solidFill>
              </a:defRPr>
            </a:pPr>
            <a:r>
              <a:t>• Next: finish the two pending evaluations once real GDELT/market data is available; Module A (tactical rebalancing) if time permits.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